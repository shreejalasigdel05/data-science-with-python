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2" r:id="rId8"/>
    <p:sldId id="261"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67"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92F7E-4E5B-C610-27BA-10FFEB8EAE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8D5419-4D1E-6F4C-DD9C-017A653BF2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BF28A0-B8BE-B324-041B-1C4200CE5182}"/>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239B0420-C7E9-685C-0C6A-313BEC7F4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3442D6-B027-FA57-6865-F0F27FF81C4A}"/>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13366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00B5-8EB3-D5D3-7B6B-B67CCA519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54CB31-2372-28FF-599F-2C8E075ECC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ECFE-6051-BFBF-6481-19A193E411F7}"/>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DDB908B8-17BB-D7D9-C420-548415B61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DEB874-696A-FB4F-436C-6E5AA6B711E7}"/>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836540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C8D9-D045-9D94-8548-92DDEEF819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1485DC-9041-1520-73E1-69C56B07CB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9AC92-771F-9698-BAE2-EED7422A68C7}"/>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550BB5EC-79A0-1363-E175-7ED1524086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2E8977-ADC0-134A-C416-7C3C1283934F}"/>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40154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BA05-3E19-0A32-E3B4-0DEACE1AC7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255032-BE5C-514E-6759-BEA476DDF7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FB3ED8-3327-F864-23BA-441767FE9E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B971D1-4C9F-3ED2-97EA-121C1393EA31}"/>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6" name="Footer Placeholder 5">
            <a:extLst>
              <a:ext uri="{FF2B5EF4-FFF2-40B4-BE49-F238E27FC236}">
                <a16:creationId xmlns:a16="http://schemas.microsoft.com/office/drawing/2014/main" id="{4E911142-19A9-0DFB-F1BF-CEBCC67C2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DEAF6-18D9-505F-BB72-86D5DCA643DC}"/>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4019699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D96E-3DA0-6852-17E1-D599A4C934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7273E8-C1BC-70F9-4ACC-CD2C149B2F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2B2FCF-0299-C02B-3E18-4499A21D1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55F025-4AB1-349F-C490-483A59B665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9C849B-D03F-225F-5FA4-9028FD42B3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A2C8D2-E60D-33BA-581C-6D090EC56126}"/>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8" name="Footer Placeholder 7">
            <a:extLst>
              <a:ext uri="{FF2B5EF4-FFF2-40B4-BE49-F238E27FC236}">
                <a16:creationId xmlns:a16="http://schemas.microsoft.com/office/drawing/2014/main" id="{D5712C3D-C688-DE64-6E32-AFF7B50E97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F81CB5-5995-39B3-6AE1-852540639BEF}"/>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2484769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68080-96BA-2046-3F2A-5D1563C8F9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F002F3-EB60-8E88-38C7-E006A9429466}"/>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4" name="Footer Placeholder 3">
            <a:extLst>
              <a:ext uri="{FF2B5EF4-FFF2-40B4-BE49-F238E27FC236}">
                <a16:creationId xmlns:a16="http://schemas.microsoft.com/office/drawing/2014/main" id="{EF9589D4-AFDA-17EA-46DA-C8C6260D08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FECCCB-DA7E-E493-494F-1DEE0D18AC16}"/>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31857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2B6C2F-A755-89AA-F00C-CFC774EDE444}"/>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3" name="Footer Placeholder 2">
            <a:extLst>
              <a:ext uri="{FF2B5EF4-FFF2-40B4-BE49-F238E27FC236}">
                <a16:creationId xmlns:a16="http://schemas.microsoft.com/office/drawing/2014/main" id="{8D0512A1-5523-1BA2-B70B-5DCDFCB162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723474-8868-AE2F-40C4-75F14BD061AB}"/>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45519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2883-4E49-4FCC-75A7-DE774D8C8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FC3B3B-CAF8-53A9-35B5-E4C892BEB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753745-8E5C-4952-F5FF-9A4E72B80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729B5-5C7F-725D-1FEB-D6242B228EAF}"/>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6" name="Footer Placeholder 5">
            <a:extLst>
              <a:ext uri="{FF2B5EF4-FFF2-40B4-BE49-F238E27FC236}">
                <a16:creationId xmlns:a16="http://schemas.microsoft.com/office/drawing/2014/main" id="{A97CEC9B-8611-9F53-9454-0688011696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01F4F3-A833-A985-AE92-F35C0D73E2CE}"/>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637235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D049F-7D62-86F4-3DD7-1F1017F36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1418B9-1B3E-0497-3C5A-A5F619C192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388523-21CB-7C19-CB25-52BF8CEAA0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56DEE7-CBA7-A3A9-7286-23F671739A24}"/>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6" name="Footer Placeholder 5">
            <a:extLst>
              <a:ext uri="{FF2B5EF4-FFF2-40B4-BE49-F238E27FC236}">
                <a16:creationId xmlns:a16="http://schemas.microsoft.com/office/drawing/2014/main" id="{7730426D-6DA9-B129-39CF-8FB476FED7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CBA4B3-8EE3-388D-B3B3-451C2F814063}"/>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705362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0FD-93AD-79F0-A8C7-056ED616CB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585B39-57FA-8843-24D2-D389E0FA9B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45533-B7AE-4A5C-303B-99F263CD338F}"/>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E74D5E74-CA3C-03C4-2A31-CBAFFBB626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85980B-A379-1F37-BB47-5F33BF3F0151}"/>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85950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B25315-DC28-8918-3832-2C579B7BDF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76CCF4-7AE0-D70E-53C9-9161080AB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CE2D7-FF95-66B2-C74B-49B830FF4989}"/>
              </a:ext>
            </a:extLst>
          </p:cNvPr>
          <p:cNvSpPr>
            <a:spLocks noGrp="1"/>
          </p:cNvSpPr>
          <p:nvPr>
            <p:ph type="dt" sz="half" idx="10"/>
          </p:nvPr>
        </p:nvSpPr>
        <p:spPr/>
        <p:txBody>
          <a:body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17E9A7F0-0C22-EC08-5546-71BEBC8DF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BB5A7-7398-A38D-A89C-D803435BA4E6}"/>
              </a:ext>
            </a:extLst>
          </p:cNvPr>
          <p:cNvSpPr>
            <a:spLocks noGrp="1"/>
          </p:cNvSpPr>
          <p:nvPr>
            <p:ph type="sldNum" sz="quarter" idx="12"/>
          </p:nvPr>
        </p:nvSpPr>
        <p:spPr/>
        <p:txBody>
          <a:bodyPr/>
          <a:lstStyle/>
          <a:p>
            <a:fld id="{0B08BE50-40E8-4FBE-AF9E-B920EEDAB02E}" type="slidenum">
              <a:rPr lang="en-US" smtClean="0"/>
              <a:t>‹#›</a:t>
            </a:fld>
            <a:endParaRPr lang="en-US"/>
          </a:p>
        </p:txBody>
      </p:sp>
    </p:spTree>
    <p:extLst>
      <p:ext uri="{BB962C8B-B14F-4D97-AF65-F5344CB8AC3E}">
        <p14:creationId xmlns:p14="http://schemas.microsoft.com/office/powerpoint/2010/main" val="3664701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836ED-D180-BD7B-AC21-E24ABF0A36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CBDC2D-43BB-63E1-8704-2EA1C5C142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BD2D3-F966-8B5D-BEAF-E56479B7D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C331AB-6BEA-477A-A71C-3813ADBA85A4}" type="datetimeFigureOut">
              <a:rPr lang="en-US" smtClean="0"/>
              <a:t>8/30/2026</a:t>
            </a:fld>
            <a:endParaRPr lang="en-US"/>
          </a:p>
        </p:txBody>
      </p:sp>
      <p:sp>
        <p:nvSpPr>
          <p:cNvPr id="5" name="Footer Placeholder 4">
            <a:extLst>
              <a:ext uri="{FF2B5EF4-FFF2-40B4-BE49-F238E27FC236}">
                <a16:creationId xmlns:a16="http://schemas.microsoft.com/office/drawing/2014/main" id="{BFBB75E1-61D3-7B23-B5CC-B28C5D3854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F8038E-AE58-6A86-8B08-A5FD14A897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08BE50-40E8-4FBE-AF9E-B920EEDAB02E}" type="slidenum">
              <a:rPr lang="en-US" smtClean="0"/>
              <a:t>‹#›</a:t>
            </a:fld>
            <a:endParaRPr lang="en-US"/>
          </a:p>
        </p:txBody>
      </p:sp>
    </p:spTree>
    <p:extLst>
      <p:ext uri="{BB962C8B-B14F-4D97-AF65-F5344CB8AC3E}">
        <p14:creationId xmlns:p14="http://schemas.microsoft.com/office/powerpoint/2010/main" val="2107278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99DAA-7193-00A8-2B32-31BF25703B50}"/>
              </a:ext>
            </a:extLst>
          </p:cNvPr>
          <p:cNvSpPr>
            <a:spLocks noGrp="1"/>
          </p:cNvSpPr>
          <p:nvPr>
            <p:ph type="title"/>
          </p:nvPr>
        </p:nvSpPr>
        <p:spPr>
          <a:xfrm>
            <a:off x="-1" y="365125"/>
            <a:ext cx="12191999" cy="1325563"/>
          </a:xfrm>
        </p:spPr>
        <p:txBody>
          <a:bodyPr>
            <a:normAutofit/>
          </a:bodyPr>
          <a:lstStyle/>
          <a:p>
            <a:pPr algn="ctr"/>
            <a:r>
              <a:rPr lang="en-US" sz="5400" b="1" dirty="0">
                <a:latin typeface="Times New Roman" panose="02020603050405020304" pitchFamily="18" charset="0"/>
                <a:cs typeface="Times New Roman" panose="02020603050405020304" pitchFamily="18" charset="0"/>
              </a:rPr>
              <a:t>Web Scraping</a:t>
            </a:r>
          </a:p>
        </p:txBody>
      </p:sp>
      <p:sp>
        <p:nvSpPr>
          <p:cNvPr id="3" name="Content Placeholder 2">
            <a:extLst>
              <a:ext uri="{FF2B5EF4-FFF2-40B4-BE49-F238E27FC236}">
                <a16:creationId xmlns:a16="http://schemas.microsoft.com/office/drawing/2014/main" id="{E71CB875-4698-7918-9E83-3A4D314E4D0E}"/>
              </a:ext>
            </a:extLst>
          </p:cNvPr>
          <p:cNvSpPr>
            <a:spLocks noGrp="1"/>
          </p:cNvSpPr>
          <p:nvPr>
            <p:ph idx="1"/>
          </p:nvPr>
        </p:nvSpPr>
        <p:spPr>
          <a:xfrm>
            <a:off x="0" y="1690688"/>
            <a:ext cx="12192000" cy="5167311"/>
          </a:xfrm>
        </p:spPr>
        <p:txBody>
          <a:bodyPr/>
          <a:lstStyle/>
          <a:p>
            <a:r>
              <a:rPr lang="en-US" sz="2400" dirty="0"/>
              <a:t>Web scraping is the process of automatically extracting data from website using software or scripts instead of manually copying information</a:t>
            </a:r>
          </a:p>
          <a:p>
            <a:r>
              <a:rPr lang="en-US" sz="2400" dirty="0"/>
              <a:t>Sends a request to a website Downloads the webpage's html content Extracts the required information Stores the data in a structured format such as CSV, Excel, or a database.</a:t>
            </a:r>
          </a:p>
          <a:p>
            <a:pPr marL="0" indent="0">
              <a:buNone/>
            </a:pPr>
            <a:endParaRPr lang="en-US" dirty="0"/>
          </a:p>
          <a:p>
            <a:pPr marL="0" indent="0">
              <a:buNone/>
            </a:pPr>
            <a:r>
              <a:rPr lang="en-US" sz="2400" b="1" dirty="0"/>
              <a:t>Why Web Scraping?</a:t>
            </a:r>
          </a:p>
          <a:p>
            <a:r>
              <a:rPr lang="en-US" sz="2400" dirty="0"/>
              <a:t>Automates data collection</a:t>
            </a:r>
          </a:p>
          <a:p>
            <a:r>
              <a:rPr lang="en-US" sz="2400" dirty="0"/>
              <a:t>Saves time and effort</a:t>
            </a:r>
          </a:p>
          <a:p>
            <a:r>
              <a:rPr lang="en-US" sz="2400" dirty="0"/>
              <a:t>Collects large amounts of information</a:t>
            </a:r>
          </a:p>
          <a:p>
            <a:r>
              <a:rPr lang="en-US" sz="2400" dirty="0"/>
              <a:t>Useful for data analysis and research</a:t>
            </a:r>
          </a:p>
          <a:p>
            <a:r>
              <a:rPr lang="en-US" sz="2400" dirty="0"/>
              <a:t>Can extract specific information from webpages</a:t>
            </a:r>
          </a:p>
        </p:txBody>
      </p:sp>
    </p:spTree>
    <p:extLst>
      <p:ext uri="{BB962C8B-B14F-4D97-AF65-F5344CB8AC3E}">
        <p14:creationId xmlns:p14="http://schemas.microsoft.com/office/powerpoint/2010/main" val="110665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BA39C-3E73-5D23-ADFF-0F928C939FFD}"/>
              </a:ext>
            </a:extLst>
          </p:cNvPr>
          <p:cNvSpPr>
            <a:spLocks noGrp="1"/>
          </p:cNvSpPr>
          <p:nvPr>
            <p:ph type="title"/>
          </p:nvPr>
        </p:nvSpPr>
        <p:spPr>
          <a:xfrm>
            <a:off x="324853" y="8113461"/>
            <a:ext cx="10515600" cy="1325563"/>
          </a:xfrm>
        </p:spPr>
        <p:txBody>
          <a:bodyPr/>
          <a:lstStyle/>
          <a:p>
            <a:endParaRPr lang="en-US" dirty="0"/>
          </a:p>
        </p:txBody>
      </p:sp>
      <p:sp>
        <p:nvSpPr>
          <p:cNvPr id="3" name="Content Placeholder 2">
            <a:extLst>
              <a:ext uri="{FF2B5EF4-FFF2-40B4-BE49-F238E27FC236}">
                <a16:creationId xmlns:a16="http://schemas.microsoft.com/office/drawing/2014/main" id="{3E85C220-E05A-5F39-1BC3-DD5CE3D42F5C}"/>
              </a:ext>
            </a:extLst>
          </p:cNvPr>
          <p:cNvSpPr>
            <a:spLocks noGrp="1"/>
          </p:cNvSpPr>
          <p:nvPr>
            <p:ph idx="1"/>
          </p:nvPr>
        </p:nvSpPr>
        <p:spPr>
          <a:xfrm>
            <a:off x="0" y="0"/>
            <a:ext cx="12192000" cy="6858000"/>
          </a:xfrm>
        </p:spPr>
        <p:txBody>
          <a:bodyPr/>
          <a:lstStyle/>
          <a:p>
            <a:pPr marL="0" indent="0">
              <a:buNone/>
            </a:pPr>
            <a:r>
              <a:rPr lang="en-US" b="1" dirty="0"/>
              <a:t>Tools and Libraries Used</a:t>
            </a:r>
          </a:p>
          <a:p>
            <a:r>
              <a:rPr lang="en-US" dirty="0"/>
              <a:t>Requests- used to send an HTTP request and retrieve a webpage.</a:t>
            </a:r>
          </a:p>
          <a:p>
            <a:r>
              <a:rPr lang="en-US" dirty="0" err="1"/>
              <a:t>BeautifulSoup</a:t>
            </a:r>
            <a:r>
              <a:rPr lang="en-US" dirty="0"/>
              <a:t>- used to parse HTML and extract information.</a:t>
            </a:r>
          </a:p>
          <a:p>
            <a:r>
              <a:rPr lang="en-US" dirty="0"/>
              <a:t>HTML Parser- used by </a:t>
            </a:r>
            <a:r>
              <a:rPr lang="en-US" dirty="0" err="1"/>
              <a:t>BeautifulSoup</a:t>
            </a:r>
            <a:r>
              <a:rPr lang="en-US" dirty="0"/>
              <a:t> to understand the HTML structure.</a:t>
            </a:r>
          </a:p>
          <a:p>
            <a:pPr marL="0" indent="0">
              <a:buNone/>
            </a:pPr>
            <a:endParaRPr lang="en-US" dirty="0"/>
          </a:p>
          <a:p>
            <a:pPr marL="0" indent="0">
              <a:buNone/>
            </a:pPr>
            <a:r>
              <a:rPr lang="en-US" b="1" dirty="0"/>
              <a:t>Installation</a:t>
            </a:r>
          </a:p>
          <a:p>
            <a:r>
              <a:rPr lang="en-US" dirty="0"/>
              <a:t>!pip install requests beautifulsoup4</a:t>
            </a:r>
          </a:p>
          <a:p>
            <a:r>
              <a:rPr lang="en-US" dirty="0"/>
              <a:t>!pip install </a:t>
            </a:r>
            <a:r>
              <a:rPr lang="en-US" dirty="0" err="1"/>
              <a:t>lxml</a:t>
            </a:r>
            <a:endParaRPr lang="en-US" dirty="0"/>
          </a:p>
          <a:p>
            <a:endParaRPr lang="en-US" dirty="0"/>
          </a:p>
          <a:p>
            <a:pPr marL="0" indent="0">
              <a:buNone/>
            </a:pPr>
            <a:r>
              <a:rPr lang="en-US" b="1" dirty="0"/>
              <a:t>Imports</a:t>
            </a:r>
          </a:p>
          <a:p>
            <a:r>
              <a:rPr lang="en-US" dirty="0"/>
              <a:t>import requests</a:t>
            </a:r>
          </a:p>
          <a:p>
            <a:r>
              <a:rPr lang="en-US" dirty="0"/>
              <a:t>from bs4 import </a:t>
            </a:r>
            <a:r>
              <a:rPr lang="en-US" dirty="0" err="1"/>
              <a:t>BeautifulSoup</a:t>
            </a:r>
            <a:endParaRPr lang="en-US" dirty="0"/>
          </a:p>
        </p:txBody>
      </p:sp>
    </p:spTree>
    <p:extLst>
      <p:ext uri="{BB962C8B-B14F-4D97-AF65-F5344CB8AC3E}">
        <p14:creationId xmlns:p14="http://schemas.microsoft.com/office/powerpoint/2010/main" val="268621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A94B4-D81A-043E-9805-D1B8F9579575}"/>
              </a:ext>
            </a:extLst>
          </p:cNvPr>
          <p:cNvSpPr>
            <a:spLocks noGrp="1"/>
          </p:cNvSpPr>
          <p:nvPr>
            <p:ph type="title"/>
          </p:nvPr>
        </p:nvSpPr>
        <p:spPr>
          <a:xfrm>
            <a:off x="0" y="256675"/>
            <a:ext cx="12192000" cy="1434014"/>
          </a:xfrm>
        </p:spPr>
        <p:txBody>
          <a:bodyPr>
            <a:normAutofit/>
          </a:bodyPr>
          <a:lstStyle/>
          <a:p>
            <a:pPr algn="ctr"/>
            <a:r>
              <a:rPr lang="en-US" sz="5400" b="1" dirty="0">
                <a:latin typeface="Times New Roman" panose="02020603050405020304" pitchFamily="18" charset="0"/>
                <a:cs typeface="Times New Roman" panose="02020603050405020304" pitchFamily="18" charset="0"/>
              </a:rPr>
              <a:t>Web Scraping Project</a:t>
            </a:r>
          </a:p>
        </p:txBody>
      </p:sp>
      <p:sp>
        <p:nvSpPr>
          <p:cNvPr id="3" name="Content Placeholder 2">
            <a:extLst>
              <a:ext uri="{FF2B5EF4-FFF2-40B4-BE49-F238E27FC236}">
                <a16:creationId xmlns:a16="http://schemas.microsoft.com/office/drawing/2014/main" id="{D022ECBB-FE12-EA24-0B9A-628A3DB0494D}"/>
              </a:ext>
            </a:extLst>
          </p:cNvPr>
          <p:cNvSpPr>
            <a:spLocks noGrp="1"/>
          </p:cNvSpPr>
          <p:nvPr>
            <p:ph idx="1"/>
          </p:nvPr>
        </p:nvSpPr>
        <p:spPr>
          <a:xfrm>
            <a:off x="0" y="1690688"/>
            <a:ext cx="12192000" cy="5167311"/>
          </a:xfrm>
        </p:spPr>
        <p:txBody>
          <a:bodyPr/>
          <a:lstStyle/>
          <a:p>
            <a:pPr marL="0" indent="0">
              <a:buNone/>
            </a:pPr>
            <a:r>
              <a:rPr lang="en-US" b="1" dirty="0"/>
              <a:t>Imports</a:t>
            </a:r>
          </a:p>
          <a:p>
            <a:r>
              <a:rPr lang="en-US" dirty="0"/>
              <a:t>import requests</a:t>
            </a:r>
          </a:p>
          <a:p>
            <a:r>
              <a:rPr lang="en-US" dirty="0"/>
              <a:t>from bs4 import </a:t>
            </a:r>
            <a:r>
              <a:rPr lang="en-US" dirty="0" err="1"/>
              <a:t>BeautifulSoup</a:t>
            </a:r>
            <a:endParaRPr lang="en-US" dirty="0"/>
          </a:p>
          <a:p>
            <a:r>
              <a:rPr lang="en-US" dirty="0"/>
              <a:t>import pandas as pd</a:t>
            </a:r>
          </a:p>
          <a:p>
            <a:endParaRPr lang="en-US" dirty="0"/>
          </a:p>
          <a:p>
            <a:r>
              <a:rPr lang="en-US" dirty="0"/>
              <a:t>Importing the data to web scrape from the website "https://books.toscrape.com/"</a:t>
            </a:r>
          </a:p>
        </p:txBody>
      </p:sp>
    </p:spTree>
    <p:extLst>
      <p:ext uri="{BB962C8B-B14F-4D97-AF65-F5344CB8AC3E}">
        <p14:creationId xmlns:p14="http://schemas.microsoft.com/office/powerpoint/2010/main" val="49276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D268-F787-9BE5-BB15-9A4D44C58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97118-8596-8537-EAFA-D9DFEA071031}"/>
              </a:ext>
            </a:extLst>
          </p:cNvPr>
          <p:cNvSpPr>
            <a:spLocks noGrp="1"/>
          </p:cNvSpPr>
          <p:nvPr>
            <p:ph type="title"/>
          </p:nvPr>
        </p:nvSpPr>
        <p:spPr>
          <a:xfrm>
            <a:off x="324853" y="8113461"/>
            <a:ext cx="10515600" cy="1325563"/>
          </a:xfrm>
        </p:spPr>
        <p:txBody>
          <a:bodyPr/>
          <a:lstStyle/>
          <a:p>
            <a:endParaRPr lang="en-US" dirty="0"/>
          </a:p>
        </p:txBody>
      </p:sp>
      <p:sp>
        <p:nvSpPr>
          <p:cNvPr id="3" name="Content Placeholder 2">
            <a:extLst>
              <a:ext uri="{FF2B5EF4-FFF2-40B4-BE49-F238E27FC236}">
                <a16:creationId xmlns:a16="http://schemas.microsoft.com/office/drawing/2014/main" id="{4F659C99-9805-7216-1009-C7EDB4ECE0B2}"/>
              </a:ext>
            </a:extLst>
          </p:cNvPr>
          <p:cNvSpPr>
            <a:spLocks noGrp="1"/>
          </p:cNvSpPr>
          <p:nvPr>
            <p:ph idx="1"/>
          </p:nvPr>
        </p:nvSpPr>
        <p:spPr>
          <a:xfrm>
            <a:off x="0" y="0"/>
            <a:ext cx="12192000" cy="6858000"/>
          </a:xfrm>
        </p:spPr>
        <p:txBody>
          <a:bodyPr/>
          <a:lstStyle/>
          <a:p>
            <a:pPr marL="0" indent="0">
              <a:buNone/>
            </a:pPr>
            <a:r>
              <a:rPr lang="en-US" b="1" dirty="0"/>
              <a:t>Procedure</a:t>
            </a:r>
          </a:p>
          <a:p>
            <a:r>
              <a:rPr lang="en-US" dirty="0"/>
              <a:t>Storing the web scraped data into </a:t>
            </a:r>
            <a:r>
              <a:rPr lang="en-US" dirty="0" err="1"/>
              <a:t>dataframe</a:t>
            </a:r>
            <a:endParaRPr lang="en-US" dirty="0"/>
          </a:p>
          <a:p>
            <a:r>
              <a:rPr lang="en-US" dirty="0"/>
              <a:t>Printing the details of all the book with its title, price and rating</a:t>
            </a:r>
          </a:p>
          <a:p>
            <a:r>
              <a:rPr lang="en-US" dirty="0"/>
              <a:t>Rewriting the price of book without the pound sign (for </a:t>
            </a:r>
            <a:r>
              <a:rPr lang="en-US" dirty="0" err="1"/>
              <a:t>eg</a:t>
            </a:r>
            <a:r>
              <a:rPr lang="en-US" dirty="0"/>
              <a:t>: Â£51.77 becomes 51.77)</a:t>
            </a:r>
          </a:p>
          <a:p>
            <a:r>
              <a:rPr lang="en-US" dirty="0"/>
              <a:t>Changing or storing the </a:t>
            </a:r>
            <a:r>
              <a:rPr lang="en-US" dirty="0" err="1"/>
              <a:t>dataframe</a:t>
            </a:r>
            <a:r>
              <a:rPr lang="en-US" dirty="0"/>
              <a:t> into csv file </a:t>
            </a:r>
          </a:p>
          <a:p>
            <a:r>
              <a:rPr lang="en-US" dirty="0"/>
              <a:t>Reading the csv file</a:t>
            </a:r>
          </a:p>
          <a:p>
            <a:endParaRPr lang="en-US" dirty="0"/>
          </a:p>
        </p:txBody>
      </p:sp>
    </p:spTree>
    <p:extLst>
      <p:ext uri="{BB962C8B-B14F-4D97-AF65-F5344CB8AC3E}">
        <p14:creationId xmlns:p14="http://schemas.microsoft.com/office/powerpoint/2010/main" val="795432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6AD5-2E5C-1858-5A2F-2FD88CCAE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01988-42A4-443D-0836-8C5FFC3E379C}"/>
              </a:ext>
            </a:extLst>
          </p:cNvPr>
          <p:cNvSpPr>
            <a:spLocks noGrp="1"/>
          </p:cNvSpPr>
          <p:nvPr>
            <p:ph type="title"/>
          </p:nvPr>
        </p:nvSpPr>
        <p:spPr>
          <a:xfrm>
            <a:off x="0" y="122070"/>
            <a:ext cx="12192000" cy="973633"/>
          </a:xfrm>
        </p:spPr>
        <p:txBody>
          <a:bodyPr>
            <a:noAutofit/>
          </a:bodyPr>
          <a:lstStyle/>
          <a:p>
            <a:pPr algn="ctr"/>
            <a:r>
              <a:rPr lang="en-US" sz="3200" b="1" dirty="0">
                <a:latin typeface="Times New Roman" panose="02020603050405020304" pitchFamily="18" charset="0"/>
                <a:cs typeface="Times New Roman" panose="02020603050405020304" pitchFamily="18" charset="0"/>
              </a:rPr>
              <a:t>Medical Insurance Charges Prediction Using Machine Learning</a:t>
            </a:r>
          </a:p>
        </p:txBody>
      </p:sp>
      <p:sp>
        <p:nvSpPr>
          <p:cNvPr id="3" name="Content Placeholder 2">
            <a:extLst>
              <a:ext uri="{FF2B5EF4-FFF2-40B4-BE49-F238E27FC236}">
                <a16:creationId xmlns:a16="http://schemas.microsoft.com/office/drawing/2014/main" id="{6A9FEDD0-F3D0-BF43-CE4A-804A225D0C6E}"/>
              </a:ext>
            </a:extLst>
          </p:cNvPr>
          <p:cNvSpPr>
            <a:spLocks noGrp="1"/>
          </p:cNvSpPr>
          <p:nvPr>
            <p:ph idx="1"/>
          </p:nvPr>
        </p:nvSpPr>
        <p:spPr>
          <a:xfrm>
            <a:off x="0" y="1269124"/>
            <a:ext cx="12192000" cy="5588876"/>
          </a:xfrm>
        </p:spPr>
        <p:txBody>
          <a:bodyPr>
            <a:normAutofit/>
          </a:bodyPr>
          <a:lstStyle/>
          <a:p>
            <a:pPr marL="0" indent="0">
              <a:buNone/>
            </a:pPr>
            <a:r>
              <a:rPr lang="en-US" sz="2400" dirty="0"/>
              <a:t>The main purpose of this project is to use machine learning to predict medical insurance charges based on personal and demographic information.</a:t>
            </a:r>
          </a:p>
          <a:p>
            <a:pPr marL="0" indent="0">
              <a:buNone/>
            </a:pPr>
            <a:r>
              <a:rPr lang="en-US" sz="2400" b="1" dirty="0"/>
              <a:t>Imports</a:t>
            </a:r>
          </a:p>
          <a:p>
            <a:r>
              <a:rPr lang="en-US" sz="2400" dirty="0"/>
              <a:t>import </a:t>
            </a:r>
            <a:r>
              <a:rPr lang="en-US" sz="2400" dirty="0" err="1"/>
              <a:t>numpy</a:t>
            </a:r>
            <a:r>
              <a:rPr lang="en-US" sz="2400" dirty="0"/>
              <a:t> as np</a:t>
            </a:r>
          </a:p>
          <a:p>
            <a:r>
              <a:rPr lang="en-US" sz="2400" dirty="0"/>
              <a:t>import pandas as pd</a:t>
            </a:r>
          </a:p>
          <a:p>
            <a:r>
              <a:rPr lang="en-US" sz="2400" dirty="0"/>
              <a:t>import </a:t>
            </a:r>
            <a:r>
              <a:rPr lang="en-US" sz="2400" dirty="0" err="1"/>
              <a:t>matplotlib.pyplot</a:t>
            </a:r>
            <a:r>
              <a:rPr lang="en-US" sz="2400" dirty="0"/>
              <a:t> as </a:t>
            </a:r>
            <a:r>
              <a:rPr lang="en-US" sz="2400" dirty="0" err="1"/>
              <a:t>plt</a:t>
            </a:r>
            <a:endParaRPr lang="en-US" sz="2400" dirty="0"/>
          </a:p>
          <a:p>
            <a:r>
              <a:rPr lang="en-US" sz="2400" dirty="0"/>
              <a:t>import seaborn as </a:t>
            </a:r>
            <a:r>
              <a:rPr lang="en-US" sz="2400" dirty="0" err="1"/>
              <a:t>sns</a:t>
            </a:r>
            <a:endParaRPr lang="en-US" sz="2400" dirty="0"/>
          </a:p>
          <a:p>
            <a:r>
              <a:rPr lang="en-US" sz="2400" dirty="0"/>
              <a:t>from </a:t>
            </a:r>
            <a:r>
              <a:rPr lang="en-US" sz="2400" dirty="0" err="1"/>
              <a:t>sklearn.model_selection</a:t>
            </a:r>
            <a:r>
              <a:rPr lang="en-US" sz="2400" dirty="0"/>
              <a:t> import </a:t>
            </a:r>
            <a:r>
              <a:rPr lang="en-US" sz="2400" dirty="0" err="1"/>
              <a:t>train_test_split</a:t>
            </a:r>
            <a:endParaRPr lang="en-US" sz="2400" dirty="0"/>
          </a:p>
          <a:p>
            <a:r>
              <a:rPr lang="en-US" sz="2400" dirty="0"/>
              <a:t>from </a:t>
            </a:r>
            <a:r>
              <a:rPr lang="en-US" sz="2400" dirty="0" err="1"/>
              <a:t>sklearn.preprocessing</a:t>
            </a:r>
            <a:r>
              <a:rPr lang="en-US" sz="2400" dirty="0"/>
              <a:t> import </a:t>
            </a:r>
            <a:r>
              <a:rPr lang="en-US" sz="2400" dirty="0" err="1"/>
              <a:t>OneHotEncoder</a:t>
            </a:r>
            <a:endParaRPr lang="en-US" sz="2400" dirty="0"/>
          </a:p>
          <a:p>
            <a:r>
              <a:rPr lang="en-US" sz="2400" dirty="0"/>
              <a:t>from </a:t>
            </a:r>
            <a:r>
              <a:rPr lang="en-US" sz="2400" dirty="0" err="1"/>
              <a:t>sklearn.compose</a:t>
            </a:r>
            <a:r>
              <a:rPr lang="en-US" sz="2400" dirty="0"/>
              <a:t> import </a:t>
            </a:r>
            <a:r>
              <a:rPr lang="en-US" sz="2400" dirty="0" err="1"/>
              <a:t>ColumnTransformer</a:t>
            </a:r>
            <a:endParaRPr lang="en-US" sz="2400" dirty="0"/>
          </a:p>
          <a:p>
            <a:r>
              <a:rPr lang="en-US" sz="2400" dirty="0"/>
              <a:t>from </a:t>
            </a:r>
            <a:r>
              <a:rPr lang="en-US" sz="2400" dirty="0" err="1"/>
              <a:t>sklearn.linear_model</a:t>
            </a:r>
            <a:r>
              <a:rPr lang="en-US" sz="2400" dirty="0"/>
              <a:t> import </a:t>
            </a:r>
            <a:r>
              <a:rPr lang="en-US" sz="2400" dirty="0" err="1"/>
              <a:t>LinearRegression</a:t>
            </a:r>
            <a:endParaRPr lang="en-US" sz="2400" dirty="0"/>
          </a:p>
          <a:p>
            <a:r>
              <a:rPr lang="en-US" sz="2400" dirty="0"/>
              <a:t>from </a:t>
            </a:r>
            <a:r>
              <a:rPr lang="en-US" sz="2400" dirty="0" err="1"/>
              <a:t>sklearn.pipeline</a:t>
            </a:r>
            <a:r>
              <a:rPr lang="en-US" sz="2400" dirty="0"/>
              <a:t> import Pipeline</a:t>
            </a:r>
          </a:p>
        </p:txBody>
      </p:sp>
    </p:spTree>
    <p:extLst>
      <p:ext uri="{BB962C8B-B14F-4D97-AF65-F5344CB8AC3E}">
        <p14:creationId xmlns:p14="http://schemas.microsoft.com/office/powerpoint/2010/main" val="588398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1C20-83BC-ED94-13CD-1E4F74878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F9EE2-7BA4-DE6D-1FCE-DB0775A00BA2}"/>
              </a:ext>
            </a:extLst>
          </p:cNvPr>
          <p:cNvSpPr>
            <a:spLocks noGrp="1"/>
          </p:cNvSpPr>
          <p:nvPr>
            <p:ph type="title"/>
          </p:nvPr>
        </p:nvSpPr>
        <p:spPr>
          <a:xfrm>
            <a:off x="324853" y="8113461"/>
            <a:ext cx="10515600" cy="1325563"/>
          </a:xfrm>
        </p:spPr>
        <p:txBody>
          <a:bodyPr/>
          <a:lstStyle/>
          <a:p>
            <a:endParaRPr lang="en-US" dirty="0"/>
          </a:p>
        </p:txBody>
      </p:sp>
      <p:sp>
        <p:nvSpPr>
          <p:cNvPr id="3" name="Content Placeholder 2">
            <a:extLst>
              <a:ext uri="{FF2B5EF4-FFF2-40B4-BE49-F238E27FC236}">
                <a16:creationId xmlns:a16="http://schemas.microsoft.com/office/drawing/2014/main" id="{E86E3F76-5AAF-33BE-53A6-B8CFA15A7DBC}"/>
              </a:ext>
            </a:extLst>
          </p:cNvPr>
          <p:cNvSpPr>
            <a:spLocks noGrp="1"/>
          </p:cNvSpPr>
          <p:nvPr>
            <p:ph idx="1"/>
          </p:nvPr>
        </p:nvSpPr>
        <p:spPr>
          <a:xfrm>
            <a:off x="0" y="0"/>
            <a:ext cx="12192000" cy="6858000"/>
          </a:xfrm>
        </p:spPr>
        <p:txBody>
          <a:bodyPr>
            <a:normAutofit fontScale="92500" lnSpcReduction="10000"/>
          </a:bodyPr>
          <a:lstStyle/>
          <a:p>
            <a:pPr marL="0" indent="0">
              <a:buNone/>
            </a:pPr>
            <a:r>
              <a:rPr lang="en-US" b="1" dirty="0"/>
              <a:t>Procedure</a:t>
            </a:r>
          </a:p>
          <a:p>
            <a:r>
              <a:rPr lang="en-US" sz="2200" dirty="0"/>
              <a:t>Reading the csv file “insurance.csv”</a:t>
            </a:r>
          </a:p>
          <a:p>
            <a:r>
              <a:rPr lang="en-US" sz="2200" dirty="0"/>
              <a:t>Checking for the null value</a:t>
            </a:r>
          </a:p>
          <a:p>
            <a:r>
              <a:rPr lang="en-US" sz="2200" dirty="0"/>
              <a:t>Dropping the unnecessary column like index and charges because index does not provide useful info for predicting insurance charges and charges are the model we have to predict so removed it</a:t>
            </a:r>
          </a:p>
          <a:p>
            <a:r>
              <a:rPr lang="en-US" sz="2200" dirty="0"/>
              <a:t>Using correlation heatmap for data visualization as it helps us understand the relationship between numerical variables</a:t>
            </a:r>
          </a:p>
          <a:p>
            <a:r>
              <a:rPr lang="en-US" sz="2200" dirty="0"/>
              <a:t>Also using pair plot as it allows us to visually examine relationships between different numerical variables and insurance charges</a:t>
            </a:r>
          </a:p>
          <a:p>
            <a:r>
              <a:rPr lang="en-US" sz="2200" dirty="0"/>
              <a:t>Using </a:t>
            </a:r>
            <a:r>
              <a:rPr lang="en-US" sz="2200" dirty="0" err="1"/>
              <a:t>histplot</a:t>
            </a:r>
            <a:r>
              <a:rPr lang="en-US" sz="2200" dirty="0"/>
              <a:t> to show the distribution of insurance charges across the dataset</a:t>
            </a:r>
          </a:p>
          <a:p>
            <a:r>
              <a:rPr lang="en-US" sz="2200" dirty="0"/>
              <a:t>Using boxplot to identify unusually high or low insurance charges</a:t>
            </a:r>
          </a:p>
          <a:p>
            <a:r>
              <a:rPr lang="en-US" sz="2200" dirty="0"/>
              <a:t>Removing outliers using IQR method</a:t>
            </a:r>
          </a:p>
          <a:p>
            <a:r>
              <a:rPr lang="en-US" sz="2200" dirty="0"/>
              <a:t>Categorical variables such as male/female and smoker/no are converted into numerical form using One-Hot Encoding.</a:t>
            </a:r>
          </a:p>
          <a:p>
            <a:r>
              <a:rPr lang="en-US" sz="2200" dirty="0"/>
              <a:t>Using Linear Regression because insurance charges is a continuous numerical value</a:t>
            </a:r>
          </a:p>
          <a:p>
            <a:r>
              <a:rPr lang="en-US" sz="2200" dirty="0"/>
              <a:t>Dividing data into training and testing sets (80% -- Training, 20% -- Testing)</a:t>
            </a:r>
          </a:p>
          <a:p>
            <a:r>
              <a:rPr lang="en-US" sz="2200" dirty="0"/>
              <a:t>During training, the Linear Regression algorithm learns the relationship between the input features and insurance charges.</a:t>
            </a:r>
          </a:p>
          <a:p>
            <a:r>
              <a:rPr lang="en-US" sz="2200" dirty="0"/>
              <a:t>Predicted insurance charges from new input data</a:t>
            </a:r>
          </a:p>
        </p:txBody>
      </p:sp>
    </p:spTree>
    <p:extLst>
      <p:ext uri="{BB962C8B-B14F-4D97-AF65-F5344CB8AC3E}">
        <p14:creationId xmlns:p14="http://schemas.microsoft.com/office/powerpoint/2010/main" val="1821522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2BAA7-94CB-1EB3-9DF6-46C3F0249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6BBC5-B8F5-14EC-A7CB-50C9EE023538}"/>
              </a:ext>
            </a:extLst>
          </p:cNvPr>
          <p:cNvSpPr>
            <a:spLocks noGrp="1"/>
          </p:cNvSpPr>
          <p:nvPr>
            <p:ph type="title"/>
          </p:nvPr>
        </p:nvSpPr>
        <p:spPr>
          <a:xfrm>
            <a:off x="0" y="122070"/>
            <a:ext cx="12192000" cy="973633"/>
          </a:xfrm>
        </p:spPr>
        <p:txBody>
          <a:bodyPr>
            <a:noAutofit/>
          </a:bodyPr>
          <a:lstStyle/>
          <a:p>
            <a:pPr algn="ctr"/>
            <a:r>
              <a:rPr lang="en-US" sz="4000" b="1" dirty="0">
                <a:latin typeface="Times New Roman" panose="02020603050405020304" pitchFamily="18" charset="0"/>
                <a:cs typeface="Times New Roman" panose="02020603050405020304" pitchFamily="18" charset="0"/>
              </a:rPr>
              <a:t>Titanic Survival Prediction Using Machine Learning</a:t>
            </a:r>
          </a:p>
        </p:txBody>
      </p:sp>
      <p:sp>
        <p:nvSpPr>
          <p:cNvPr id="3" name="Content Placeholder 2">
            <a:extLst>
              <a:ext uri="{FF2B5EF4-FFF2-40B4-BE49-F238E27FC236}">
                <a16:creationId xmlns:a16="http://schemas.microsoft.com/office/drawing/2014/main" id="{C13D9366-6222-DE34-A36D-C94822536701}"/>
              </a:ext>
            </a:extLst>
          </p:cNvPr>
          <p:cNvSpPr>
            <a:spLocks noGrp="1"/>
          </p:cNvSpPr>
          <p:nvPr>
            <p:ph idx="1"/>
          </p:nvPr>
        </p:nvSpPr>
        <p:spPr>
          <a:xfrm>
            <a:off x="0" y="1269124"/>
            <a:ext cx="12192000" cy="5588876"/>
          </a:xfrm>
        </p:spPr>
        <p:txBody>
          <a:bodyPr>
            <a:normAutofit fontScale="92500"/>
          </a:bodyPr>
          <a:lstStyle/>
          <a:p>
            <a:pPr marL="0" indent="0">
              <a:buNone/>
            </a:pPr>
            <a:r>
              <a:rPr lang="en-US" sz="2200" dirty="0"/>
              <a:t>The main purpose of this project is to use machine learning to predict a passenger on the Titanic would survive or not based on passenger information such as age, gender, passenger class, fare, and other available features.</a:t>
            </a:r>
          </a:p>
          <a:p>
            <a:pPr marL="0" indent="0">
              <a:buNone/>
            </a:pPr>
            <a:r>
              <a:rPr lang="en-US" sz="2200" b="1" dirty="0"/>
              <a:t>Imports</a:t>
            </a:r>
          </a:p>
          <a:p>
            <a:r>
              <a:rPr lang="en-US" sz="2200" dirty="0"/>
              <a:t>import </a:t>
            </a:r>
            <a:r>
              <a:rPr lang="en-US" sz="2200" dirty="0" err="1"/>
              <a:t>numpy</a:t>
            </a:r>
            <a:r>
              <a:rPr lang="en-US" sz="2200" dirty="0"/>
              <a:t> as np</a:t>
            </a:r>
          </a:p>
          <a:p>
            <a:r>
              <a:rPr lang="en-US" sz="2200" dirty="0"/>
              <a:t>import pandas as pd</a:t>
            </a:r>
          </a:p>
          <a:p>
            <a:r>
              <a:rPr lang="en-US" sz="2200" dirty="0"/>
              <a:t>import </a:t>
            </a:r>
            <a:r>
              <a:rPr lang="en-US" sz="2200" dirty="0" err="1"/>
              <a:t>matplotlib.pyplot</a:t>
            </a:r>
            <a:r>
              <a:rPr lang="en-US" sz="2200" dirty="0"/>
              <a:t> as </a:t>
            </a:r>
            <a:r>
              <a:rPr lang="en-US" sz="2200" dirty="0" err="1"/>
              <a:t>plt</a:t>
            </a:r>
            <a:endParaRPr lang="en-US" sz="2200" dirty="0"/>
          </a:p>
          <a:p>
            <a:r>
              <a:rPr lang="en-US" sz="2200" dirty="0"/>
              <a:t>import seaborn as </a:t>
            </a:r>
            <a:r>
              <a:rPr lang="en-US" sz="2200" dirty="0" err="1"/>
              <a:t>sns</a:t>
            </a:r>
            <a:endParaRPr lang="en-US" sz="2200" dirty="0"/>
          </a:p>
          <a:p>
            <a:r>
              <a:rPr lang="en-US" sz="2200" dirty="0"/>
              <a:t>from </a:t>
            </a:r>
            <a:r>
              <a:rPr lang="en-US" sz="2200" dirty="0" err="1"/>
              <a:t>sklearn.model_selection</a:t>
            </a:r>
            <a:r>
              <a:rPr lang="en-US" sz="2200" dirty="0"/>
              <a:t> import </a:t>
            </a:r>
            <a:r>
              <a:rPr lang="en-US" sz="2200" dirty="0" err="1"/>
              <a:t>train_test_split</a:t>
            </a:r>
            <a:endParaRPr lang="en-US" sz="2200" dirty="0"/>
          </a:p>
          <a:p>
            <a:r>
              <a:rPr lang="en-US" sz="2200" dirty="0"/>
              <a:t>from </a:t>
            </a:r>
            <a:r>
              <a:rPr lang="en-US" sz="2200" dirty="0" err="1"/>
              <a:t>sklearn.metrics</a:t>
            </a:r>
            <a:r>
              <a:rPr lang="en-US" sz="2200" dirty="0"/>
              <a:t> import </a:t>
            </a:r>
            <a:r>
              <a:rPr lang="en-US" sz="2200" dirty="0" err="1"/>
              <a:t>accuracy_score</a:t>
            </a:r>
            <a:endParaRPr lang="en-US" sz="2200" dirty="0"/>
          </a:p>
          <a:p>
            <a:r>
              <a:rPr lang="en-US" sz="2200" dirty="0"/>
              <a:t>from </a:t>
            </a:r>
            <a:r>
              <a:rPr lang="en-US" sz="2200" dirty="0" err="1"/>
              <a:t>sklearn.metrics</a:t>
            </a:r>
            <a:r>
              <a:rPr lang="en-US" sz="2200" dirty="0"/>
              <a:t> import </a:t>
            </a:r>
            <a:r>
              <a:rPr lang="en-US" sz="2200" dirty="0" err="1"/>
              <a:t>confusion_matrix</a:t>
            </a:r>
            <a:endParaRPr lang="en-US" sz="2200" dirty="0"/>
          </a:p>
          <a:p>
            <a:r>
              <a:rPr lang="en-US" sz="2200" dirty="0"/>
              <a:t>from </a:t>
            </a:r>
            <a:r>
              <a:rPr lang="en-US" sz="2200" dirty="0" err="1"/>
              <a:t>sklearn.metrics</a:t>
            </a:r>
            <a:r>
              <a:rPr lang="en-US" sz="2200" dirty="0"/>
              <a:t> import </a:t>
            </a:r>
            <a:r>
              <a:rPr lang="en-US" sz="2200" dirty="0" err="1"/>
              <a:t>classification_report</a:t>
            </a:r>
            <a:endParaRPr lang="en-US" sz="2200" dirty="0"/>
          </a:p>
          <a:p>
            <a:r>
              <a:rPr lang="en-US" sz="2200" dirty="0"/>
              <a:t>from </a:t>
            </a:r>
            <a:r>
              <a:rPr lang="en-US" sz="2200" dirty="0" err="1"/>
              <a:t>sklearn.preprocessing</a:t>
            </a:r>
            <a:r>
              <a:rPr lang="en-US" sz="2200" dirty="0"/>
              <a:t> import </a:t>
            </a:r>
            <a:r>
              <a:rPr lang="en-US" sz="2200" dirty="0" err="1"/>
              <a:t>LabelEncoder</a:t>
            </a:r>
            <a:endParaRPr lang="en-US" sz="2200" dirty="0"/>
          </a:p>
          <a:p>
            <a:r>
              <a:rPr lang="en-US" sz="2200" dirty="0"/>
              <a:t>from </a:t>
            </a:r>
            <a:r>
              <a:rPr lang="en-US" sz="2200" dirty="0" err="1"/>
              <a:t>sklearn.preprocessing</a:t>
            </a:r>
            <a:r>
              <a:rPr lang="en-US" sz="2200" dirty="0"/>
              <a:t> import </a:t>
            </a:r>
            <a:r>
              <a:rPr lang="en-US" sz="2200" dirty="0" err="1"/>
              <a:t>StandardScaler</a:t>
            </a:r>
            <a:endParaRPr lang="en-US" sz="2200" dirty="0"/>
          </a:p>
          <a:p>
            <a:r>
              <a:rPr lang="en-US" sz="2200" dirty="0"/>
              <a:t>from </a:t>
            </a:r>
            <a:r>
              <a:rPr lang="en-US" sz="2200" dirty="0" err="1"/>
              <a:t>sklearn.linear_model</a:t>
            </a:r>
            <a:r>
              <a:rPr lang="en-US" sz="2200" dirty="0"/>
              <a:t> import LogisticRegression</a:t>
            </a:r>
          </a:p>
        </p:txBody>
      </p:sp>
    </p:spTree>
    <p:extLst>
      <p:ext uri="{BB962C8B-B14F-4D97-AF65-F5344CB8AC3E}">
        <p14:creationId xmlns:p14="http://schemas.microsoft.com/office/powerpoint/2010/main" val="15929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C906E-8C1E-70F9-235B-E84E5599E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DFBDA-CBC3-B27C-3A63-87AC83A7DA14}"/>
              </a:ext>
            </a:extLst>
          </p:cNvPr>
          <p:cNvSpPr>
            <a:spLocks noGrp="1"/>
          </p:cNvSpPr>
          <p:nvPr>
            <p:ph type="title"/>
          </p:nvPr>
        </p:nvSpPr>
        <p:spPr>
          <a:xfrm>
            <a:off x="324853" y="8113461"/>
            <a:ext cx="10515600" cy="1325563"/>
          </a:xfrm>
        </p:spPr>
        <p:txBody>
          <a:bodyPr/>
          <a:lstStyle/>
          <a:p>
            <a:endParaRPr lang="en-US" dirty="0"/>
          </a:p>
        </p:txBody>
      </p:sp>
      <p:sp>
        <p:nvSpPr>
          <p:cNvPr id="3" name="Content Placeholder 2">
            <a:extLst>
              <a:ext uri="{FF2B5EF4-FFF2-40B4-BE49-F238E27FC236}">
                <a16:creationId xmlns:a16="http://schemas.microsoft.com/office/drawing/2014/main" id="{74AF0CFD-7C37-D277-5B50-895E0A77F7A0}"/>
              </a:ext>
            </a:extLst>
          </p:cNvPr>
          <p:cNvSpPr>
            <a:spLocks noGrp="1"/>
          </p:cNvSpPr>
          <p:nvPr>
            <p:ph idx="1"/>
          </p:nvPr>
        </p:nvSpPr>
        <p:spPr>
          <a:xfrm>
            <a:off x="0" y="0"/>
            <a:ext cx="12192000" cy="6858000"/>
          </a:xfrm>
        </p:spPr>
        <p:txBody>
          <a:bodyPr>
            <a:normAutofit/>
          </a:bodyPr>
          <a:lstStyle/>
          <a:p>
            <a:pPr marL="0" indent="0">
              <a:buNone/>
            </a:pPr>
            <a:r>
              <a:rPr lang="en-US" b="1" dirty="0"/>
              <a:t>Procedure</a:t>
            </a:r>
          </a:p>
          <a:p>
            <a:r>
              <a:rPr lang="en-US" dirty="0"/>
              <a:t>Using </a:t>
            </a:r>
            <a:r>
              <a:rPr lang="en-US" dirty="0" err="1"/>
              <a:t>seaborn’s</a:t>
            </a:r>
            <a:r>
              <a:rPr lang="en-US" dirty="0"/>
              <a:t> built-in Titanic dataset and loaded it into pandas </a:t>
            </a:r>
            <a:r>
              <a:rPr lang="en-US" dirty="0" err="1"/>
              <a:t>DataFrame</a:t>
            </a:r>
            <a:endParaRPr lang="en-US" dirty="0"/>
          </a:p>
          <a:p>
            <a:r>
              <a:rPr lang="en-US" dirty="0"/>
              <a:t>Using </a:t>
            </a:r>
            <a:r>
              <a:rPr lang="en-US" dirty="0" err="1"/>
              <a:t>countplot</a:t>
            </a:r>
            <a:r>
              <a:rPr lang="en-US" dirty="0"/>
              <a:t> to get overall view of the survival distribution in Titanic dataset</a:t>
            </a:r>
          </a:p>
          <a:p>
            <a:r>
              <a:rPr lang="en-US" dirty="0"/>
              <a:t>Again using </a:t>
            </a:r>
            <a:r>
              <a:rPr lang="en-US" dirty="0" err="1"/>
              <a:t>countplot</a:t>
            </a:r>
            <a:r>
              <a:rPr lang="en-US" dirty="0"/>
              <a:t> to visually understand whether survival outcomes differed between male and female passengers.</a:t>
            </a:r>
          </a:p>
          <a:p>
            <a:r>
              <a:rPr lang="en-US" dirty="0"/>
              <a:t>Logistic regression was used for binary classification</a:t>
            </a:r>
          </a:p>
          <a:p>
            <a:r>
              <a:rPr lang="en-US" dirty="0"/>
              <a:t>Converted categorical values into numerical values using label encoding</a:t>
            </a:r>
          </a:p>
          <a:p>
            <a:r>
              <a:rPr lang="en-US" dirty="0"/>
              <a:t>Apply train-test split</a:t>
            </a:r>
          </a:p>
          <a:p>
            <a:r>
              <a:rPr lang="en-US" dirty="0"/>
              <a:t>Training the model and evaluating them using evaluation tools</a:t>
            </a:r>
          </a:p>
          <a:p>
            <a:r>
              <a:rPr lang="en-US" dirty="0"/>
              <a:t>Now the model can predict whether a passenger survived based on passenger information</a:t>
            </a:r>
          </a:p>
          <a:p>
            <a:endParaRPr lang="en-US" dirty="0"/>
          </a:p>
        </p:txBody>
      </p:sp>
    </p:spTree>
    <p:extLst>
      <p:ext uri="{BB962C8B-B14F-4D97-AF65-F5344CB8AC3E}">
        <p14:creationId xmlns:p14="http://schemas.microsoft.com/office/powerpoint/2010/main" val="2051946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7B7E5-5218-2573-8FA1-3F03A0733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6C9A6-AA86-1067-98DE-B0A9D8997620}"/>
              </a:ext>
            </a:extLst>
          </p:cNvPr>
          <p:cNvSpPr>
            <a:spLocks noGrp="1"/>
          </p:cNvSpPr>
          <p:nvPr>
            <p:ph type="title"/>
          </p:nvPr>
        </p:nvSpPr>
        <p:spPr>
          <a:xfrm>
            <a:off x="0" y="122070"/>
            <a:ext cx="12192000" cy="973633"/>
          </a:xfrm>
        </p:spPr>
        <p:txBody>
          <a:bodyPr>
            <a:noAutofit/>
          </a:bodyPr>
          <a:lstStyle/>
          <a:p>
            <a:pPr algn="ctr"/>
            <a:r>
              <a:rPr lang="en-US" sz="4000" b="1" dirty="0">
                <a:latin typeface="Times New Roman" panose="02020603050405020304" pitchFamily="18" charset="0"/>
                <a:cs typeface="Times New Roman" panose="02020603050405020304" pitchFamily="18" charset="0"/>
              </a:rPr>
              <a:t>Overfitting and Regularization in Machine Learning</a:t>
            </a:r>
          </a:p>
        </p:txBody>
      </p:sp>
      <p:sp>
        <p:nvSpPr>
          <p:cNvPr id="3" name="Content Placeholder 2">
            <a:extLst>
              <a:ext uri="{FF2B5EF4-FFF2-40B4-BE49-F238E27FC236}">
                <a16:creationId xmlns:a16="http://schemas.microsoft.com/office/drawing/2014/main" id="{2D5DC36C-98D8-A170-F0E0-CC3519301A2D}"/>
              </a:ext>
            </a:extLst>
          </p:cNvPr>
          <p:cNvSpPr>
            <a:spLocks noGrp="1"/>
          </p:cNvSpPr>
          <p:nvPr>
            <p:ph idx="1"/>
          </p:nvPr>
        </p:nvSpPr>
        <p:spPr>
          <a:xfrm>
            <a:off x="0" y="1269124"/>
            <a:ext cx="12192000" cy="5588876"/>
          </a:xfrm>
        </p:spPr>
        <p:txBody>
          <a:bodyPr>
            <a:normAutofit lnSpcReduction="10000"/>
          </a:bodyPr>
          <a:lstStyle/>
          <a:p>
            <a:pPr marL="0" indent="0">
              <a:buNone/>
            </a:pPr>
            <a:r>
              <a:rPr lang="en-US" sz="2400" dirty="0"/>
              <a:t>The main purpose of this project is to understand overfitting in a machine learning model and reduce it using regularization techniques such as L1 (Lasso) and L2 (Ridge) regularization.</a:t>
            </a:r>
          </a:p>
          <a:p>
            <a:pPr marL="0" indent="0">
              <a:buNone/>
            </a:pPr>
            <a:r>
              <a:rPr lang="en-US" sz="2400" b="1" dirty="0"/>
              <a:t>What is Overfitting?</a:t>
            </a:r>
          </a:p>
          <a:p>
            <a:r>
              <a:rPr lang="en-US" sz="2400" dirty="0"/>
              <a:t>Overfitting occurs when a Machine Learning model learns not only the underlying pattern in the training data but also the </a:t>
            </a:r>
            <a:r>
              <a:rPr lang="en-US" sz="2400" b="1" dirty="0"/>
              <a:t>noise and random fluctuations</a:t>
            </a:r>
            <a:r>
              <a:rPr lang="en-US" sz="2400" dirty="0"/>
              <a:t>.</a:t>
            </a:r>
          </a:p>
          <a:p>
            <a:pPr marL="0" indent="0">
              <a:buNone/>
            </a:pPr>
            <a:r>
              <a:rPr lang="en-US" sz="2400" b="1" dirty="0"/>
              <a:t>Imports</a:t>
            </a:r>
          </a:p>
          <a:p>
            <a:r>
              <a:rPr lang="en-US" sz="2400" dirty="0"/>
              <a:t>from </a:t>
            </a:r>
            <a:r>
              <a:rPr lang="en-US" sz="2400" dirty="0" err="1"/>
              <a:t>sklearn.model_selection</a:t>
            </a:r>
            <a:r>
              <a:rPr lang="en-US" sz="2400" dirty="0"/>
              <a:t> import </a:t>
            </a:r>
            <a:r>
              <a:rPr lang="en-US" sz="2400" dirty="0" err="1"/>
              <a:t>train_test_split</a:t>
            </a:r>
            <a:endParaRPr lang="en-US" sz="2400" dirty="0"/>
          </a:p>
          <a:p>
            <a:r>
              <a:rPr lang="en-US" sz="2400" dirty="0"/>
              <a:t>from </a:t>
            </a:r>
            <a:r>
              <a:rPr lang="en-US" sz="2400" dirty="0" err="1"/>
              <a:t>sklearn.linear_model</a:t>
            </a:r>
            <a:r>
              <a:rPr lang="en-US" sz="2400" dirty="0"/>
              <a:t> import </a:t>
            </a:r>
            <a:r>
              <a:rPr lang="en-US" sz="2400" dirty="0" err="1"/>
              <a:t>LinearRegression</a:t>
            </a:r>
            <a:endParaRPr lang="en-US" sz="2400" dirty="0"/>
          </a:p>
          <a:p>
            <a:r>
              <a:rPr lang="en-US" sz="2400" dirty="0"/>
              <a:t>from </a:t>
            </a:r>
            <a:r>
              <a:rPr lang="en-US" sz="2400" dirty="0" err="1"/>
              <a:t>sklearn.linear_model</a:t>
            </a:r>
            <a:r>
              <a:rPr lang="en-US" sz="2400" dirty="0"/>
              <a:t> import Ridge, Lasso</a:t>
            </a:r>
          </a:p>
          <a:p>
            <a:r>
              <a:rPr lang="en-US" sz="2400" dirty="0"/>
              <a:t>from </a:t>
            </a:r>
            <a:r>
              <a:rPr lang="en-US" sz="2400" dirty="0" err="1"/>
              <a:t>sklearn.metrics</a:t>
            </a:r>
            <a:r>
              <a:rPr lang="en-US" sz="2400" dirty="0"/>
              <a:t> import r2_score</a:t>
            </a:r>
          </a:p>
          <a:p>
            <a:r>
              <a:rPr lang="en-US" sz="2400" dirty="0"/>
              <a:t>from </a:t>
            </a:r>
            <a:r>
              <a:rPr lang="en-US" sz="2400" dirty="0" err="1"/>
              <a:t>sklearn.metrics</a:t>
            </a:r>
            <a:r>
              <a:rPr lang="en-US" sz="2400" dirty="0"/>
              <a:t> import </a:t>
            </a:r>
            <a:r>
              <a:rPr lang="en-US" sz="2400" dirty="0" err="1"/>
              <a:t>mean_absolute_error</a:t>
            </a:r>
            <a:endParaRPr lang="en-US" sz="2400" dirty="0"/>
          </a:p>
          <a:p>
            <a:r>
              <a:rPr lang="en-US" sz="2400" dirty="0"/>
              <a:t>from </a:t>
            </a:r>
            <a:r>
              <a:rPr lang="en-US" sz="2400" dirty="0" err="1"/>
              <a:t>sklearn.metrics</a:t>
            </a:r>
            <a:r>
              <a:rPr lang="en-US" sz="2400" dirty="0"/>
              <a:t> import </a:t>
            </a:r>
            <a:r>
              <a:rPr lang="en-US" sz="2400" dirty="0" err="1"/>
              <a:t>mean_squared_error</a:t>
            </a:r>
            <a:endParaRPr lang="en-US" sz="2400" dirty="0"/>
          </a:p>
          <a:p>
            <a:r>
              <a:rPr lang="en-US" sz="2400" dirty="0"/>
              <a:t>import pandas as pd</a:t>
            </a:r>
          </a:p>
          <a:p>
            <a:r>
              <a:rPr lang="en-US" sz="2400" dirty="0"/>
              <a:t>import </a:t>
            </a:r>
            <a:r>
              <a:rPr lang="en-US" sz="2400" dirty="0" err="1"/>
              <a:t>numpy</a:t>
            </a:r>
            <a:r>
              <a:rPr lang="en-US" sz="2400" dirty="0"/>
              <a:t> as np</a:t>
            </a:r>
          </a:p>
          <a:p>
            <a:pPr marL="0" indent="0">
              <a:buNone/>
            </a:pPr>
            <a:endParaRPr lang="en-US" sz="2400" dirty="0"/>
          </a:p>
        </p:txBody>
      </p:sp>
    </p:spTree>
    <p:extLst>
      <p:ext uri="{BB962C8B-B14F-4D97-AF65-F5344CB8AC3E}">
        <p14:creationId xmlns:p14="http://schemas.microsoft.com/office/powerpoint/2010/main" val="173365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830</Words>
  <Application>Microsoft Office PowerPoint</Application>
  <PresentationFormat>Widescreen</PresentationFormat>
  <Paragraphs>97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Web Scraping</vt:lpstr>
      <vt:lpstr>PowerPoint Presentation</vt:lpstr>
      <vt:lpstr>Web Scraping Project</vt:lpstr>
      <vt:lpstr>PowerPoint Presentation</vt:lpstr>
      <vt:lpstr>Medical Insurance Charges Prediction Using Machine Learning</vt:lpstr>
      <vt:lpstr>PowerPoint Presentation</vt:lpstr>
      <vt:lpstr>Titanic Survival Prediction Using Machine Learning</vt:lpstr>
      <vt:lpstr>PowerPoint Presentation</vt:lpstr>
      <vt:lpstr>Overfitting and Regularization in Machine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SHRIJALA</dc:creator>
  <cp:lastModifiedBy>SHRIJALA</cp:lastModifiedBy>
  <cp:revision>3</cp:revision>
  <dcterms:created xsi:type="dcterms:W3CDTF">2026-08-30T05:06:13Z</dcterms:created>
  <dcterms:modified xsi:type="dcterms:W3CDTF">2026-08-30T06:43:20Z</dcterms:modified>
</cp:coreProperties>
</file>