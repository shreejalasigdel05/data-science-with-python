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46" d="100"/>
          <a:sy n="46" d="100"/>
        </p:scale>
        <p:origin x="62" y="1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0271-9B73-6FCB-9D9C-A1BEFCD58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463CB-328F-812E-D24C-DB3D7BD49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DB356-45FD-88C4-A8F8-BE99F84F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4A5A6-C5DF-2ABE-3FFC-6AB9150C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F69C-A78B-FFB6-3382-502F8066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3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14FB-4BF3-588B-14A7-D1AA9640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7C9E-E59E-7C63-F681-672EB0F6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260EB-BC50-40EA-91BC-7E537119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3E3A9-6461-5725-C021-2377B150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1EAA-C637-4547-4B4B-BA014CDF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2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1B63-0929-D142-3CD3-178A4EC9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2D910-EE9D-DFAC-8AB2-46B7BBD75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FC508-923F-4C5C-75E1-106A3FCC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0E27D-71E5-DC1E-5464-BD95CCF2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7F5F9-1690-433A-8DEC-B44610D5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7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4927-A747-84AA-10C6-9990BA63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FA90-1961-299F-C9C8-7502D4AEF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CB670-2E90-7D7E-2B6C-DF14A12AA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F7A60-21D9-4750-6BA1-50CE8473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2D51-03E9-7621-E91B-5A8FF908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00853-79C1-2713-8262-766C0D74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72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4F03-9DE1-7C16-A6D6-0360DC6B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33EC0-6BC1-9BA3-4EB5-C57EF943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86E56-7BAC-D642-EC55-2B4E91AF2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888D8-ED84-5BA0-F2DE-260EA951A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BDD60-E149-F7E8-3C3C-11889D031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A4AE4-C8A2-6347-5251-05129096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5565FD-6F3B-7A71-C740-24FA82FB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99AE8-2C01-8F92-1F64-02FB3B48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1650-FE0E-CAEC-AE35-0B5D10A4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4EC9E-A501-C78F-8239-C32B9E3C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3D139-4E95-2899-78E2-FB5671B2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0C0D0-A598-A26C-946F-C6A007D4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2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BB5AF-042D-FCD0-67B8-A0803E58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87E81-93AE-2115-540A-EADC9182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9A742-E7EB-CE58-0E37-9F5F99B7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4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D779-DB81-F725-876E-65C137C1B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8779E-8086-B163-0F89-CC01E9114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2A6D-6B2A-3CA4-AE1D-0E35F8F2D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C0C6E-D26A-36FC-9513-0C447DA2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01872-465B-EEFE-6AA7-C3D4674C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11A0F-C339-230C-9191-72E5A79F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7398-DF0E-AC47-333A-12A4C11C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03371-0F86-F9B7-67CC-519DA1F36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AB66C-4E72-8854-4049-FF49CA013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7067E-EBA1-1742-1A75-622FA1DE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F21C0-03D2-E0A2-A8E2-F6057B4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46138-90A1-E492-7D22-7DFCD037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8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04E3-BE15-8DC5-93E1-934CF113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BC3BC-909F-D899-C6CE-D55F79150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E1F6D-EEFA-ECEE-50B3-89BC2821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D870-83A0-6A6F-7792-14448CB3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1EF33-C9F6-0897-0E69-24AB07AF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5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42557-3CB1-E3E5-263D-CEFED35043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12E35-08DF-87E5-8384-37E3F7501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ABA5C-2F11-D70B-49F8-FAF37934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9AFB5-9435-A96E-43AE-F4A27A9B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CAE24-14A9-E2A3-9DDB-2231F0EE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1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BF72E-5A17-091E-3655-6506678F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AE3C3-DA81-FEB3-0CF0-EAC0D54B5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96DB3-71B9-159D-1EF9-D0E931D97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97B60-030A-4D88-8196-7A957440D26E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29819-E401-7E31-8CED-B6F101CCA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09D86-01B9-7590-F0F7-178DBC41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904E0-A034-48D4-8536-00293D59F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8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31B9-7C74-2915-7D05-EB5B0BAEE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/>
              <a:t>Real Estate Land Price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110A4-4B7C-2DA4-9B03-89EA0247B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dirty="0"/>
              <a:t>A Machine Learning-Based Land Valuation System</a:t>
            </a:r>
          </a:p>
          <a:p>
            <a:endParaRPr lang="en-US" dirty="0"/>
          </a:p>
          <a:p>
            <a:r>
              <a:rPr lang="en-US" dirty="0" err="1"/>
              <a:t>Shrijala</a:t>
            </a:r>
            <a:r>
              <a:rPr lang="en-US" dirty="0"/>
              <a:t> Sigdel</a:t>
            </a:r>
          </a:p>
        </p:txBody>
      </p:sp>
    </p:spTree>
    <p:extLst>
      <p:ext uri="{BB962C8B-B14F-4D97-AF65-F5344CB8AC3E}">
        <p14:creationId xmlns:p14="http://schemas.microsoft.com/office/powerpoint/2010/main" val="287959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6948-85C5-16D7-282A-36ABFE5C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DCE9-0750-96F1-D020-A7F18D14D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estate prices are influenced by various factors such as location, land area, road accessibility, infrastructure, nearby facilities, and environmental conditions.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project aims to develop a machine learning-based system that estimates the </a:t>
            </a:r>
            <a:r>
              <a:rPr lang="en-US" b="1" dirty="0"/>
              <a:t>price per </a:t>
            </a:r>
            <a:r>
              <a:rPr lang="en-US" b="1" dirty="0" err="1"/>
              <a:t>aana</a:t>
            </a:r>
            <a:r>
              <a:rPr lang="en-US" b="1" dirty="0"/>
              <a:t> of land</a:t>
            </a:r>
            <a:r>
              <a:rPr lang="en-US" dirty="0"/>
              <a:t> using these property-related factors.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9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2016-952C-4648-9FCC-8A9D3C7B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3F0B-9A45-3F21-64B7-6ECA4C77A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Land Prices vary significantly between different locations.</a:t>
            </a:r>
          </a:p>
          <a:p>
            <a:r>
              <a:rPr lang="en-US" dirty="0"/>
              <a:t>Properties with similar areas can have very different market values</a:t>
            </a:r>
          </a:p>
          <a:p>
            <a:r>
              <a:rPr lang="en-US" dirty="0"/>
              <a:t>Manual property valuation can be time consuming</a:t>
            </a:r>
          </a:p>
          <a:p>
            <a:r>
              <a:rPr lang="en-US" dirty="0"/>
              <a:t>It is difficult to consider multiple factors simultaneously</a:t>
            </a:r>
          </a:p>
          <a:p>
            <a:r>
              <a:rPr lang="en-US" dirty="0"/>
              <a:t>Real-estate agents need a quick and consistent initial price estimate</a:t>
            </a:r>
          </a:p>
        </p:txBody>
      </p:sp>
    </p:spTree>
    <p:extLst>
      <p:ext uri="{BB962C8B-B14F-4D97-AF65-F5344CB8AC3E}">
        <p14:creationId xmlns:p14="http://schemas.microsoft.com/office/powerpoint/2010/main" val="253714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1ACD-D682-64C9-A9DE-C0A87836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3E2A-56D1-A81E-0153-4DB112D6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3D773-6BE8-DCEF-E201-E288F38D5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 a machine-learning system that:</a:t>
            </a:r>
          </a:p>
          <a:p>
            <a:r>
              <a:rPr lang="en-US" dirty="0"/>
              <a:t>Receives land/property information. </a:t>
            </a:r>
          </a:p>
          <a:p>
            <a:r>
              <a:rPr lang="en-US" dirty="0"/>
              <a:t>Processes and validates the input data. </a:t>
            </a:r>
          </a:p>
          <a:p>
            <a:r>
              <a:rPr lang="en-US" dirty="0"/>
              <a:t>Uses a trained ML regression model. </a:t>
            </a:r>
          </a:p>
          <a:p>
            <a:r>
              <a:rPr lang="en-US" dirty="0"/>
              <a:t>Predicts the estimated </a:t>
            </a:r>
            <a:r>
              <a:rPr lang="en-US" b="1" dirty="0"/>
              <a:t>price per </a:t>
            </a:r>
            <a:r>
              <a:rPr lang="en-US" b="1" dirty="0" err="1"/>
              <a:t>aana</a:t>
            </a:r>
            <a:r>
              <a:rPr lang="en-US" dirty="0"/>
              <a:t>. </a:t>
            </a:r>
          </a:p>
          <a:p>
            <a:r>
              <a:rPr lang="en-US" dirty="0"/>
              <a:t>Returns the prediction through a backend API. </a:t>
            </a:r>
          </a:p>
          <a:p>
            <a:r>
              <a:rPr lang="en-US" dirty="0"/>
              <a:t>Stores property and prediction information in a database.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11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E706-3BF3-3074-F063-33F6D48C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2FDA-5D6C-100D-6EA4-FDAD1653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D43D-3229-2A01-727A-FD16F5E16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Specific Objectives</a:t>
            </a:r>
          </a:p>
          <a:p>
            <a:r>
              <a:rPr lang="en-US" dirty="0"/>
              <a:t>Collect relevant land/property data. </a:t>
            </a:r>
          </a:p>
          <a:p>
            <a:r>
              <a:rPr lang="en-US" dirty="0"/>
              <a:t>Clean and preprocess the dataset. </a:t>
            </a:r>
          </a:p>
          <a:p>
            <a:r>
              <a:rPr lang="en-US" dirty="0"/>
              <a:t>Perform exploratory data analysis. </a:t>
            </a:r>
          </a:p>
          <a:p>
            <a:r>
              <a:rPr lang="en-US" dirty="0"/>
              <a:t>Identify factors affecting land prices. </a:t>
            </a:r>
          </a:p>
          <a:p>
            <a:r>
              <a:rPr lang="en-US" dirty="0"/>
              <a:t>Train regression models. </a:t>
            </a:r>
          </a:p>
          <a:p>
            <a:r>
              <a:rPr lang="en-US" dirty="0"/>
              <a:t>Compare model performance. </a:t>
            </a:r>
          </a:p>
          <a:p>
            <a:r>
              <a:rPr lang="en-US" dirty="0"/>
              <a:t>Select the most suitable model. </a:t>
            </a:r>
          </a:p>
          <a:p>
            <a:r>
              <a:rPr lang="en-US" dirty="0"/>
              <a:t>Develop a Python backend API. </a:t>
            </a:r>
          </a:p>
          <a:p>
            <a:r>
              <a:rPr lang="en-US" dirty="0"/>
              <a:t>Integrate the ML model with the backend. </a:t>
            </a:r>
          </a:p>
          <a:p>
            <a:r>
              <a:rPr lang="en-US" dirty="0"/>
              <a:t>Store property and prediction data in a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34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A747-6E30-EB9A-5BC9-21327FEA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44C7-8268-BE39-F146-10C955355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2728" y="4076007"/>
            <a:ext cx="3035531" cy="25359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u="sng" dirty="0"/>
              <a:t>Facilities</a:t>
            </a:r>
          </a:p>
          <a:p>
            <a:r>
              <a:rPr lang="en-US" dirty="0"/>
              <a:t>Distance to school</a:t>
            </a:r>
          </a:p>
          <a:p>
            <a:r>
              <a:rPr lang="en-US" dirty="0"/>
              <a:t>Distance to hospital</a:t>
            </a:r>
          </a:p>
          <a:p>
            <a:r>
              <a:rPr lang="en-US" dirty="0"/>
              <a:t>Distance to market</a:t>
            </a:r>
          </a:p>
          <a:p>
            <a:r>
              <a:rPr lang="en-US" dirty="0"/>
              <a:t>Distance to public transport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B8C975-87B2-397E-9768-07851A9A11E3}"/>
              </a:ext>
            </a:extLst>
          </p:cNvPr>
          <p:cNvSpPr txBox="1">
            <a:spLocks/>
          </p:cNvSpPr>
          <p:nvPr/>
        </p:nvSpPr>
        <p:spPr>
          <a:xfrm>
            <a:off x="4303224" y="1393464"/>
            <a:ext cx="3035531" cy="2535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Land Characteristics</a:t>
            </a:r>
          </a:p>
          <a:p>
            <a:r>
              <a:rPr lang="en-US" dirty="0"/>
              <a:t>Land Area</a:t>
            </a:r>
          </a:p>
          <a:p>
            <a:r>
              <a:rPr lang="en-US" dirty="0"/>
              <a:t>Land Use</a:t>
            </a:r>
          </a:p>
          <a:p>
            <a:r>
              <a:rPr lang="en-US" dirty="0"/>
              <a:t>Land Slope</a:t>
            </a:r>
          </a:p>
          <a:p>
            <a:r>
              <a:rPr lang="en-US" dirty="0"/>
              <a:t>Land Shape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17F0D4E-CEF0-D9B7-327C-D7CE47E10139}"/>
              </a:ext>
            </a:extLst>
          </p:cNvPr>
          <p:cNvSpPr txBox="1">
            <a:spLocks/>
          </p:cNvSpPr>
          <p:nvPr/>
        </p:nvSpPr>
        <p:spPr>
          <a:xfrm>
            <a:off x="574963" y="1393464"/>
            <a:ext cx="3035531" cy="2535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Location</a:t>
            </a:r>
          </a:p>
          <a:p>
            <a:r>
              <a:rPr lang="en-US" dirty="0"/>
              <a:t>District/Municipality</a:t>
            </a:r>
          </a:p>
          <a:p>
            <a:r>
              <a:rPr lang="en-US" dirty="0"/>
              <a:t>Ward no.</a:t>
            </a:r>
          </a:p>
          <a:p>
            <a:r>
              <a:rPr lang="en-US" dirty="0"/>
              <a:t>Latitude</a:t>
            </a:r>
          </a:p>
          <a:p>
            <a:r>
              <a:rPr lang="en-US" dirty="0" err="1"/>
              <a:t>Lognitude</a:t>
            </a:r>
            <a:endParaRPr lang="en-US" dirty="0"/>
          </a:p>
          <a:p>
            <a:r>
              <a:rPr lang="en-US" dirty="0"/>
              <a:t>Distance from city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93CA2E-1BF1-E7E8-AA7B-363B566644D8}"/>
              </a:ext>
            </a:extLst>
          </p:cNvPr>
          <p:cNvSpPr txBox="1">
            <a:spLocks/>
          </p:cNvSpPr>
          <p:nvPr/>
        </p:nvSpPr>
        <p:spPr>
          <a:xfrm>
            <a:off x="8031485" y="1393464"/>
            <a:ext cx="3035531" cy="2535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u="sng" dirty="0"/>
              <a:t>Road &amp; Accessibility</a:t>
            </a:r>
          </a:p>
          <a:p>
            <a:r>
              <a:rPr lang="en-US" sz="2600" dirty="0"/>
              <a:t>Distance from main road</a:t>
            </a:r>
          </a:p>
          <a:p>
            <a:r>
              <a:rPr lang="en-US" sz="2600" dirty="0"/>
              <a:t>Road Width</a:t>
            </a:r>
          </a:p>
          <a:p>
            <a:r>
              <a:rPr lang="en-US" sz="2600" dirty="0"/>
              <a:t>Road Condition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D15E0B-9402-AC40-F17D-54AAE99A35E2}"/>
              </a:ext>
            </a:extLst>
          </p:cNvPr>
          <p:cNvSpPr txBox="1">
            <a:spLocks/>
          </p:cNvSpPr>
          <p:nvPr/>
        </p:nvSpPr>
        <p:spPr>
          <a:xfrm>
            <a:off x="6415357" y="4076007"/>
            <a:ext cx="3035531" cy="25359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/>
              <a:t>Utilities &amp; </a:t>
            </a:r>
            <a:r>
              <a:rPr lang="en-US" b="1" u="sng" dirty="0" err="1"/>
              <a:t>Enviroment</a:t>
            </a:r>
            <a:endParaRPr lang="en-US" b="1" u="sng" dirty="0"/>
          </a:p>
          <a:p>
            <a:r>
              <a:rPr lang="en-US" dirty="0"/>
              <a:t>Water availability</a:t>
            </a:r>
          </a:p>
          <a:p>
            <a:r>
              <a:rPr lang="en-US" dirty="0"/>
              <a:t>Electricity availability</a:t>
            </a:r>
          </a:p>
          <a:p>
            <a:r>
              <a:rPr lang="en-US" dirty="0"/>
              <a:t>Flood risk</a:t>
            </a:r>
          </a:p>
          <a:p>
            <a:r>
              <a:rPr lang="en-US" dirty="0"/>
              <a:t>Neighborhood development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84FC15C-A6AC-97D7-3479-1A6950B4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89" y="125470"/>
            <a:ext cx="10515600" cy="1121439"/>
          </a:xfrm>
        </p:spPr>
        <p:txBody>
          <a:bodyPr/>
          <a:lstStyle/>
          <a:p>
            <a:pPr algn="ctr"/>
            <a:r>
              <a:rPr lang="en-US" dirty="0"/>
              <a:t>Input Features</a:t>
            </a:r>
          </a:p>
        </p:txBody>
      </p:sp>
    </p:spTree>
    <p:extLst>
      <p:ext uri="{BB962C8B-B14F-4D97-AF65-F5344CB8AC3E}">
        <p14:creationId xmlns:p14="http://schemas.microsoft.com/office/powerpoint/2010/main" val="324092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B618-C1D1-1FDB-DC87-2F7626CC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4584-CA4D-C66C-AD80-47F8240E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Target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CE17-54AB-C916-C072-B21FCF663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model will predict the estimated price of one </a:t>
            </a:r>
            <a:r>
              <a:rPr lang="en-US" dirty="0" err="1"/>
              <a:t>aana</a:t>
            </a:r>
            <a:r>
              <a:rPr lang="en-US" dirty="0"/>
              <a:t> of land in Nepalese Rupees (NPR).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Price per Aana=Total Land Price/Land Area</a:t>
            </a:r>
          </a:p>
          <a:p>
            <a:pPr marL="0" indent="0">
              <a:buNone/>
            </a:pPr>
            <a:r>
              <a:rPr lang="en-US" dirty="0"/>
              <a:t>And price per </a:t>
            </a:r>
            <a:r>
              <a:rPr lang="en-US" dirty="0" err="1"/>
              <a:t>aana</a:t>
            </a:r>
            <a:r>
              <a:rPr lang="en-US" dirty="0"/>
              <a:t> is a continuous numerical value</a:t>
            </a:r>
          </a:p>
        </p:txBody>
      </p:sp>
    </p:spTree>
    <p:extLst>
      <p:ext uri="{BB962C8B-B14F-4D97-AF65-F5344CB8AC3E}">
        <p14:creationId xmlns:p14="http://schemas.microsoft.com/office/powerpoint/2010/main" val="121716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FFD0-606F-0242-1F68-B0EA05B6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906F-7BE7-7C63-CA31-3D822C5B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0F77F-1108-AE9E-2BCD-78318F247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7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326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Real Estate Land Price Prediction System</vt:lpstr>
      <vt:lpstr>Introduction</vt:lpstr>
      <vt:lpstr>Problem Statement</vt:lpstr>
      <vt:lpstr>Proposed Solution</vt:lpstr>
      <vt:lpstr>Project Objective</vt:lpstr>
      <vt:lpstr>Input Features</vt:lpstr>
      <vt:lpstr>Target Variable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SHRIJALA</dc:creator>
  <cp:lastModifiedBy>SHRIJALA</cp:lastModifiedBy>
  <cp:revision>3</cp:revision>
  <dcterms:created xsi:type="dcterms:W3CDTF">2026-08-31T06:59:47Z</dcterms:created>
  <dcterms:modified xsi:type="dcterms:W3CDTF">2026-08-31T14:45:31Z</dcterms:modified>
</cp:coreProperties>
</file>